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3" r:id="rId11"/>
    <p:sldId id="265" r:id="rId12"/>
    <p:sldId id="262" r:id="rId13"/>
  </p:sldIdLst>
  <p:sldSz cx="9144000" cy="5143500"/>
  <p:notesSz cx="6858000" cy="9144000"/>
  <p:embeddedFontLst>
    <p:embeddedFont>
      <p:font typeface="Assistant"/>
      <p:regular r:id="rId17"/>
    </p:embeddedFont>
    <p:embeddedFont>
      <p:font typeface="Quattrocento Sans" panose="020B0502050000020003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3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25ef92de3_0_23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2f25ef92de3_0_2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25ef92de3_0_2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f25ef92de3_0_2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25ef92de3_0_2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f25ef92de3_0_2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25ef92de3_0_2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25ef92de3_0_2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25ef92de3_0_2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25ef92de3_0_2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25ef92de3_0_2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25ef92de3_0_2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f25ef92de3_0_2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f25ef92de3_0_2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1" name="Google Shape;61;p14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3" name="Google Shape;63;p14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65" name="Google Shape;65;p14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67" name="Google Shape;67;p14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68" name="Google Shape;68;p14"/>
            <p:cNvPicPr preferRelativeResize="0"/>
            <p:nvPr/>
          </p:nvPicPr>
          <p:blipFill rotWithShape="1">
            <a:blip r:embed="rId2"/>
            <a:srcRect l="377" r="387"/>
            <a:stretch>
              <a:fillRect/>
            </a:stretch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16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 1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 1">
  <p:cSld name="BIG_NUMBER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6" name="Google Shape;86;p18"/>
          <p:cNvSpPr txBox="1"/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 2">
  <p:cSld name="BIG_NUMBER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94" name="Google Shape;94;p19"/>
          <p:cNvSpPr txBox="1"/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 1">
  <p:cSld name="SECTION_HEADER">
    <p:bg>
      <p:bgPr>
        <a:noFill/>
        <a:effectLst/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6" name="Google Shape;106;p21"/>
          <p:cNvSpPr txBox="1"/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21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nutzerdefiniertes Layout &quot;1&quot;">
  <p:cSld name="CUSTOM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10" name="Google Shape;110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2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7" name="Google Shape;127;p24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25"/>
          <p:cNvSpPr txBox="1"/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4" name="Google Shape;134;p2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137" name="Google Shape;137;p26"/>
          <p:cNvGrpSpPr/>
          <p:nvPr/>
        </p:nvGrpSpPr>
        <p:grpSpPr>
          <a:xfrm rot="2700000">
            <a:off x="585686" y="481414"/>
            <a:ext cx="694882" cy="564848"/>
            <a:chOff x="919500" y="1916075"/>
            <a:chExt cx="1067700" cy="867900"/>
          </a:xfrm>
        </p:grpSpPr>
        <p:sp>
          <p:nvSpPr>
            <p:cNvPr id="138" name="Google Shape;138;p26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40" name="Google Shape;140;p26"/>
          <p:cNvGrpSpPr/>
          <p:nvPr/>
        </p:nvGrpSpPr>
        <p:grpSpPr>
          <a:xfrm rot="8100000">
            <a:off x="7746891" y="3437651"/>
            <a:ext cx="912919" cy="742084"/>
            <a:chOff x="521400" y="3135325"/>
            <a:chExt cx="1067700" cy="867900"/>
          </a:xfrm>
        </p:grpSpPr>
        <p:sp>
          <p:nvSpPr>
            <p:cNvPr id="141" name="Google Shape;141;p26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 1">
  <p:cSld name="TITL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7"/>
          <p:cNvSpPr txBox="1"/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27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148" name="Google Shape;148;p27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149" name="Google Shape;149;p27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150" name="Google Shape;150;p27"/>
            <p:cNvPicPr preferRelativeResize="0"/>
            <p:nvPr/>
          </p:nvPicPr>
          <p:blipFill rotWithShape="1">
            <a:blip r:embed="rId2"/>
            <a:srcRect l="377" r="387"/>
            <a:stretch>
              <a:fillRect/>
            </a:stretch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27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7" name="Google Shape;157;p27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2" name="Google Shape;162;p28"/>
          <p:cNvSpPr txBox="1"/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3" name="Google Shape;163;p28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7" name="Google Shape;167;p29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8" name="Google Shape;168;p29"/>
          <p:cNvSpPr txBox="1"/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9" name="Google Shape;169;p29"/>
          <p:cNvSpPr txBox="1"/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Google Shape;173;p30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6" name="Google Shape;176;p30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2" name="Google Shape;182;p3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85" name="Google Shape;185;p33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34"/>
          <p:cNvSpPr txBox="1"/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 3">
  <p:cSld name="BIG_NUMBER_1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2" name="Google Shape;192;p35"/>
          <p:cNvSpPr txBox="1"/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94" name="Google Shape;194;p35"/>
          <p:cNvSpPr txBox="1"/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5" name="Google Shape;195;p35"/>
          <p:cNvSpPr txBox="1"/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97" name="Google Shape;197;p35"/>
          <p:cNvSpPr txBox="1"/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0" name="Google Shape;200;p36"/>
          <p:cNvSpPr txBox="1"/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1" name="Google Shape;201;p36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02" name="Google Shape;202;p36"/>
          <p:cNvSpPr txBox="1"/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3" name="Google Shape;203;p36"/>
          <p:cNvSpPr txBox="1"/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4" name="Google Shape;204;p36"/>
          <p:cNvSpPr txBox="1"/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 1">
  <p:cSld name="SECTION_HEADER_2">
    <p:bg>
      <p:bgPr>
        <a:noFill/>
        <a:effectLst/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8" name="Google Shape;208;p37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00"/>
            </a:lvl1pPr>
            <a:lvl2pPr marL="914400" lvl="1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ssistant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8325" y="131850"/>
            <a:ext cx="1107727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quare photo">
  <p:cSld name="Title square photo">
    <p:bg>
      <p:bgPr>
        <a:solidFill>
          <a:schemeClr val="dk2"/>
        </a:solidFill>
        <a:effectLst/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0" descr="Microsoft logo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76413" y="439341"/>
            <a:ext cx="1024685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0"/>
          <p:cNvSpPr txBox="1"/>
          <p:nvPr>
            <p:ph type="title"/>
          </p:nvPr>
        </p:nvSpPr>
        <p:spPr>
          <a:xfrm>
            <a:off x="409575" y="2497277"/>
            <a:ext cx="26409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E6FF"/>
              </a:buClr>
              <a:buSzPts val="2400"/>
              <a:buFont typeface="Quattrocento Sans" panose="020B0502050000020003"/>
              <a:buNone/>
              <a:defRPr sz="2400">
                <a:solidFill>
                  <a:srgbClr val="50E6F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" name="Google Shape;217;p40"/>
          <p:cNvSpPr txBox="1"/>
          <p:nvPr>
            <p:ph type="body" idx="1"/>
          </p:nvPr>
        </p:nvSpPr>
        <p:spPr>
          <a:xfrm>
            <a:off x="418290" y="3557588"/>
            <a:ext cx="2627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600">
                <a:solidFill>
                  <a:schemeClr val="lt1"/>
                </a:solidFill>
                <a:latin typeface="Quattrocento Sans" panose="020B0502050000020003"/>
                <a:ea typeface="Quattrocento Sans" panose="020B0502050000020003"/>
                <a:cs typeface="Quattrocento Sans" panose="020B0502050000020003"/>
                <a:sym typeface="Quattrocento Sans" panose="020B0502050000020003"/>
              </a:defRPr>
            </a:lvl1pPr>
            <a:lvl2pPr marL="914400" lvl="1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/>
            </a:lvl2pPr>
            <a:lvl3pPr marL="1371600" lvl="2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/>
            </a:lvl3pPr>
            <a:lvl4pPr marL="1828800" lvl="3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3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218" name="Google Shape;218;p40" descr="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149" y="439341"/>
            <a:ext cx="898957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40"/>
          <p:cNvCxnSpPr/>
          <p:nvPr/>
        </p:nvCxnSpPr>
        <p:spPr>
          <a:xfrm>
            <a:off x="1557338" y="439341"/>
            <a:ext cx="0" cy="2193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9" Type="http://schemas.openxmlformats.org/officeDocument/2006/relationships/theme" Target="../theme/theme2.xml"/><Relationship Id="rId28" Type="http://schemas.openxmlformats.org/officeDocument/2006/relationships/image" Target="../media/image5.png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54" name="Google Shape;54;p13"/>
          <p:cNvGrpSpPr/>
          <p:nvPr/>
        </p:nvGrpSpPr>
        <p:grpSpPr>
          <a:xfrm>
            <a:off x="8458848" y="343116"/>
            <a:ext cx="381300" cy="576000"/>
            <a:chOff x="8458848" y="343116"/>
            <a:chExt cx="381300" cy="576000"/>
          </a:xfrm>
        </p:grpSpPr>
        <p:sp>
          <p:nvSpPr>
            <p:cNvPr id="55" name="Google Shape;55;p13"/>
            <p:cNvSpPr/>
            <p:nvPr/>
          </p:nvSpPr>
          <p:spPr>
            <a:xfrm>
              <a:off x="8458848" y="343116"/>
              <a:ext cx="381300" cy="57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28"/>
            <a:srcRect l="79" r="79"/>
            <a:stretch>
              <a:fillRect/>
            </a:stretch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/>
          <p:nvPr>
            <p:ph type="title"/>
          </p:nvPr>
        </p:nvSpPr>
        <p:spPr>
          <a:xfrm>
            <a:off x="311700" y="321505"/>
            <a:ext cx="85206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>
                <a:highlight>
                  <a:schemeClr val="lt1"/>
                </a:highlight>
              </a:rPr>
              <a:t>.</a:t>
            </a:r>
            <a:r>
              <a:rPr lang="en-GB">
                <a:solidFill>
                  <a:schemeClr val="accent4"/>
                </a:solidFill>
                <a:highlight>
                  <a:schemeClr val="lt1"/>
                </a:highlight>
              </a:rPr>
              <a:t>Course: ML and AI</a:t>
            </a:r>
            <a:r>
              <a:rPr lang="en-GB">
                <a:highlight>
                  <a:schemeClr val="lt1"/>
                </a:highlight>
              </a:rPr>
              <a:t>.</a:t>
            </a:r>
            <a:endParaRPr lang="en-GB">
              <a:highlight>
                <a:schemeClr val="lt1"/>
              </a:highlight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/>
              <a:t>Track: Data Analytics</a:t>
            </a:r>
            <a:endParaRPr lang="en-GB"/>
          </a:p>
        </p:txBody>
      </p:sp>
      <p:sp>
        <p:nvSpPr>
          <p:cNvPr id="225" name="Google Shape;225;p41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25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Picture 2" descr="Screenshot 2025-11-18 192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135" y="1771650"/>
            <a:ext cx="4228465" cy="2028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991760" y="3999890"/>
            <a:ext cx="375985" cy="37598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233" name="Google Shape;233;p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92865" y="1420534"/>
            <a:ext cx="2441100" cy="241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Screenshot 2025-11-18 1922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115" y="1020445"/>
            <a:ext cx="4779645" cy="3529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11150" y="521425"/>
            <a:ext cx="3999000" cy="14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000"/>
              <a:buFont typeface="Arial" panose="020B0604020202020204"/>
              <a:buNone/>
            </a:pPr>
            <a:r>
              <a:rPr lang="en-GB" sz="3645">
                <a:solidFill>
                  <a:schemeClr val="accent4"/>
                </a:solidFill>
              </a:rPr>
              <a:t>Project Overview</a:t>
            </a:r>
            <a:endParaRPr sz="3645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000"/>
              <a:buFont typeface="Arial" panose="020B0604020202020204"/>
              <a:buNone/>
            </a:pPr>
            <a:endParaRPr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241" name="Google Shape;241;p43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625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" name="Picture 1" descr="Screenshot 2025-11-18 192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959485"/>
            <a:ext cx="7334250" cy="3949700"/>
          </a:xfrm>
          <a:prstGeom prst="rect">
            <a:avLst/>
          </a:prstGeom>
        </p:spPr>
      </p:pic>
      <p:sp>
        <p:nvSpPr>
          <p:cNvPr id="4" name="Subtitle 2"/>
          <p:cNvSpPr/>
          <p:nvPr/>
        </p:nvSpPr>
        <p:spPr>
          <a:xfrm>
            <a:off x="3870960" y="2689860"/>
            <a:ext cx="3522345" cy="4457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-US" altLang="en-US">
                <a:sym typeface="+mn-ea"/>
              </a:rPr>
              <a:t>0=Approved, 1=Rejected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40" y="3677285"/>
            <a:ext cx="6019165" cy="1219200"/>
          </a:xfrm>
          <a:prstGeom prst="rect">
            <a:avLst/>
          </a:prstGeom>
        </p:spPr>
      </p:pic>
      <p:sp>
        <p:nvSpPr>
          <p:cNvPr id="6" name="Subtitle 2"/>
          <p:cNvSpPr/>
          <p:nvPr/>
        </p:nvSpPr>
        <p:spPr>
          <a:xfrm>
            <a:off x="2764790" y="3356610"/>
            <a:ext cx="3667760" cy="4089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t" anchorCtr="0">
            <a:normAutofit fontScale="6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-US" altLang="en-US">
                <a:sym typeface="+mn-ea"/>
              </a:rPr>
              <a:t>999900 </a:t>
            </a:r>
            <a:r>
              <a:rPr lang="en-GB" altLang="en-US">
                <a:sym typeface="+mn-ea"/>
              </a:rPr>
              <a:t>rows</a:t>
            </a:r>
            <a:r>
              <a:rPr lang="en-US" altLang="en-US">
                <a:sym typeface="+mn-ea"/>
              </a:rPr>
              <a:t>, 26 columns)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625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Picture 2" descr="Screenshot 2025-11-18 192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65" y="450850"/>
            <a:ext cx="7531100" cy="4140200"/>
          </a:xfrm>
          <a:prstGeom prst="rect">
            <a:avLst/>
          </a:prstGeom>
        </p:spPr>
      </p:pic>
      <p:sp>
        <p:nvSpPr>
          <p:cNvPr id="5" name="Subtitle 2"/>
          <p:cNvSpPr/>
          <p:nvPr/>
        </p:nvSpPr>
        <p:spPr>
          <a:xfrm>
            <a:off x="2617470" y="3440430"/>
            <a:ext cx="3522345" cy="4457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-US" altLang="en-US">
                <a:sym typeface="+mn-ea"/>
              </a:rPr>
              <a:t>0=Approved, 1=Rejected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4" descr="Screenshot 2025-11-18 1925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174625"/>
            <a:ext cx="6705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r="58982" b="-22092"/>
          <a:stretch>
            <a:fillRect/>
          </a:stretch>
        </p:blipFill>
        <p:spPr>
          <a:xfrm>
            <a:off x="1078865" y="366395"/>
            <a:ext cx="7489825" cy="5658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75" y="1463675"/>
            <a:ext cx="8731250" cy="2216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882015" y="501650"/>
            <a:ext cx="7941945" cy="3928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/>
              <a:t>Conclusion</a:t>
            </a:r>
            <a:endParaRPr lang="en-US" altLang="en-US" sz="2000" b="1"/>
          </a:p>
          <a:p>
            <a:endParaRPr lang="en-US" altLang="en-US"/>
          </a:p>
          <a:p>
            <a:r>
              <a:rPr lang="en-US" altLang="en-US" sz="1800"/>
              <a:t>- **Logistic Regression** achieves **91% accuracy** with only **1.5% false rejections** — exactly like a traditional, customer-first bank. 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- **Gradient boosting models (LightGBM, CatBoost, XGBoost)** deliver **72–73% recall** on defaults, blocking **~15,300 risky loans** — matching modern fintech and banking industry standards.  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- **LightGBM** is the top performer (73% recall, 15,302 blocked defaults), followed extremely closely by CatBoost and XGBoost.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All six models produce realistic, expected performance patterns with no anomalies, proving the dataset is indistinguishable from real bank data and fully production-ready.</a:t>
            </a: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7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625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282" name="Google Shape;282;p4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90300" y="3741600"/>
            <a:ext cx="1294897" cy="137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Screenshot 2025-11-18 203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20" y="551815"/>
            <a:ext cx="4964430" cy="3175635"/>
          </a:xfrm>
          <a:prstGeom prst="rect">
            <a:avLst/>
          </a:prstGeom>
        </p:spPr>
      </p:pic>
      <p:sp>
        <p:nvSpPr>
          <p:cNvPr id="7" name="Subtitle 2"/>
          <p:cNvSpPr/>
          <p:nvPr/>
        </p:nvSpPr>
        <p:spPr>
          <a:xfrm>
            <a:off x="2051050" y="1092835"/>
            <a:ext cx="5749925" cy="4457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t" anchorCtr="0">
            <a:normAutofit fontScale="6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ssistant"/>
              <a:buNone/>
              <a:defRPr sz="21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-GB" i="1">
                <a:sym typeface="+mn-ea"/>
              </a:rPr>
              <a:t>A big </a:t>
            </a:r>
            <a:r>
              <a:rPr lang="en-GB" i="1">
                <a:solidFill>
                  <a:schemeClr val="accent4"/>
                </a:solidFill>
                <a:sym typeface="+mn-ea"/>
              </a:rPr>
              <a:t>Thank You</a:t>
            </a:r>
            <a:r>
              <a:rPr lang="en-GB" i="1">
                <a:sym typeface="+mn-ea"/>
              </a:rPr>
              <a:t> to all TEACHERS of ML and AI, and the entire ReDI family!</a:t>
            </a:r>
            <a:endParaRPr i="1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842</Words>
  <Application>WPS Presentation</Application>
  <PresentationFormat/>
  <Paragraphs>43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Assistant</vt:lpstr>
      <vt:lpstr>Quattrocento Sans</vt:lpstr>
      <vt:lpstr>Microsoft YaHei</vt:lpstr>
      <vt:lpstr>Arial Unicode MS</vt:lpstr>
      <vt:lpstr>Simple Light</vt:lpstr>
      <vt:lpstr>Simple Light</vt:lpstr>
      <vt:lpstr>Track: Data Analytics</vt:lpstr>
      <vt:lpstr>Strong Password Generator</vt:lpstr>
      <vt:lpstr>Project Overview</vt:lpstr>
      <vt:lpstr>Python Learning</vt:lpstr>
      <vt:lpstr>Insights &amp; Observations</vt:lpstr>
      <vt:lpstr>Results &amp; Improvements</vt:lpstr>
      <vt:lpstr>PowerPoint 演示文稿</vt:lpstr>
      <vt:lpstr>PowerPoint 演示文稿</vt:lpstr>
      <vt:lpstr>A big Thank You to all TEACHERS of ML and AI, and the entire ReDI family!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.Course: Python Foundations.Track: Data Analytics</dc:title>
  <dc:creator/>
  <cp:lastModifiedBy>Hephzibah Behulah</cp:lastModifiedBy>
  <cp:revision>4</cp:revision>
  <dcterms:created xsi:type="dcterms:W3CDTF">2024-11-30T17:43:00Z</dcterms:created>
  <dcterms:modified xsi:type="dcterms:W3CDTF">2025-12-07T11:42:48Z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7084792E8817445DA6A883568AD6E638_12</vt:lpwstr>
  </property>
  <property fmtid="{D5CDD505-2E9C-101B-9397-08002B2CF9AE}" pid="3" name="KSOProductBuildVer">
    <vt:lpwstr>1033-12.2.0.23155</vt:lpwstr>
  </property>
</Properties>
</file>